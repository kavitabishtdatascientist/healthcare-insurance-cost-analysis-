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ntonio" panose="020B0604020202020204" charset="0"/>
      <p:regular r:id="rId12"/>
    </p:embeddedFont>
    <p:embeddedFont>
      <p:font typeface="Canva Sans Bold" panose="020B0604020202020204" charset="0"/>
      <p:regular r:id="rId13"/>
    </p:embeddedFont>
    <p:embeddedFont>
      <p:font typeface="Calibri" panose="020F0502020204030204" pitchFamily="34" charset="0"/>
      <p:regular r:id="rId14"/>
      <p:bold r:id="rId15"/>
      <p:italic r:id="rId16"/>
      <p:boldItalic r:id="rId17"/>
    </p:embeddedFont>
    <p:embeddedFont>
      <p:font typeface="Bricolage Grotesque" panose="020B0604020202020204" charset="0"/>
      <p:regular r:id="rId18"/>
    </p:embeddedFont>
    <p:embeddedFont>
      <p:font typeface="Poppins Bold" panose="020B0604020202020204" charset="0"/>
      <p:regular r:id="rId19"/>
    </p:embeddedFont>
    <p:embeddedFont>
      <p:font typeface="Bricolage Grotesque Bold" panose="020B0604020202020204" charset="0"/>
      <p:regular r:id="rId20"/>
    </p:embeddedFont>
    <p:embeddedFont>
      <p:font typeface="Canva San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39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hyperlink" Target="http://localhost:8888/notebooks/EDA%20PROJECT/Healthcare%20Costs/HealthcareCosts.ipynb#Overall,-the-dataset-shows-a-mix-of-balanced-and-skewed-distribution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20.sv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48214" y="677537"/>
            <a:ext cx="5627808" cy="5109724"/>
          </a:xfrm>
          <a:custGeom>
            <a:avLst/>
            <a:gdLst/>
            <a:ahLst/>
            <a:cxnLst/>
            <a:rect l="l" t="t" r="r" b="b"/>
            <a:pathLst>
              <a:path w="5627808" h="5109724">
                <a:moveTo>
                  <a:pt x="0" y="0"/>
                </a:moveTo>
                <a:lnTo>
                  <a:pt x="5627808" y="0"/>
                </a:lnTo>
                <a:lnTo>
                  <a:pt x="5627808" y="5109725"/>
                </a:lnTo>
                <a:lnTo>
                  <a:pt x="0" y="510972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14310915" y="4457960"/>
            <a:ext cx="5627808" cy="5109724"/>
          </a:xfrm>
          <a:custGeom>
            <a:avLst/>
            <a:gdLst/>
            <a:ahLst/>
            <a:cxnLst/>
            <a:rect l="l" t="t" r="r" b="b"/>
            <a:pathLst>
              <a:path w="5627808" h="5109724">
                <a:moveTo>
                  <a:pt x="5627808" y="5109725"/>
                </a:moveTo>
                <a:lnTo>
                  <a:pt x="0" y="5109725"/>
                </a:lnTo>
                <a:lnTo>
                  <a:pt x="0" y="0"/>
                </a:lnTo>
                <a:lnTo>
                  <a:pt x="5627808" y="0"/>
                </a:lnTo>
                <a:lnTo>
                  <a:pt x="5627808" y="5109725"/>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5560966" y="880127"/>
            <a:ext cx="1858906" cy="2073830"/>
          </a:xfrm>
          <a:custGeom>
            <a:avLst/>
            <a:gdLst/>
            <a:ahLst/>
            <a:cxnLst/>
            <a:rect l="l" t="t" r="r" b="b"/>
            <a:pathLst>
              <a:path w="1858906" h="2073830">
                <a:moveTo>
                  <a:pt x="0" y="0"/>
                </a:moveTo>
                <a:lnTo>
                  <a:pt x="1858906" y="0"/>
                </a:lnTo>
                <a:lnTo>
                  <a:pt x="1858906" y="2073830"/>
                </a:lnTo>
                <a:lnTo>
                  <a:pt x="0" y="207383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flipH="1" flipV="1">
            <a:off x="890577" y="7346562"/>
            <a:ext cx="1858906" cy="2073830"/>
          </a:xfrm>
          <a:custGeom>
            <a:avLst/>
            <a:gdLst/>
            <a:ahLst/>
            <a:cxnLst/>
            <a:rect l="l" t="t" r="r" b="b"/>
            <a:pathLst>
              <a:path w="1858906" h="2073830">
                <a:moveTo>
                  <a:pt x="1858905" y="2073830"/>
                </a:moveTo>
                <a:lnTo>
                  <a:pt x="0" y="2073830"/>
                </a:lnTo>
                <a:lnTo>
                  <a:pt x="0" y="0"/>
                </a:lnTo>
                <a:lnTo>
                  <a:pt x="1858905" y="0"/>
                </a:lnTo>
                <a:lnTo>
                  <a:pt x="1858905" y="207383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Freeform 6"/>
          <p:cNvSpPr/>
          <p:nvPr/>
        </p:nvSpPr>
        <p:spPr>
          <a:xfrm>
            <a:off x="890577" y="82296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7" name="Freeform 7"/>
          <p:cNvSpPr/>
          <p:nvPr/>
        </p:nvSpPr>
        <p:spPr>
          <a:xfrm>
            <a:off x="13305072" y="-200296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TextBox 8"/>
          <p:cNvSpPr txBox="1"/>
          <p:nvPr/>
        </p:nvSpPr>
        <p:spPr>
          <a:xfrm>
            <a:off x="3113916" y="2473890"/>
            <a:ext cx="12447050" cy="9516745"/>
          </a:xfrm>
          <a:prstGeom prst="rect">
            <a:avLst/>
          </a:prstGeom>
        </p:spPr>
        <p:txBody>
          <a:bodyPr lIns="0" tIns="0" rIns="0" bIns="0" rtlCol="0" anchor="t">
            <a:spAutoFit/>
          </a:bodyPr>
          <a:lstStyle/>
          <a:p>
            <a:pPr algn="ctr">
              <a:lnSpc>
                <a:spcPts val="16241"/>
              </a:lnSpc>
            </a:pPr>
            <a:r>
              <a:rPr lang="en-US" sz="11601">
                <a:solidFill>
                  <a:srgbClr val="3D414D"/>
                </a:solidFill>
                <a:latin typeface="Antonio"/>
                <a:ea typeface="Antonio"/>
                <a:cs typeface="Antonio"/>
                <a:sym typeface="Antonio"/>
              </a:rPr>
              <a:t>HEALTHCARE INSURANCE COST ANALYSIS USING EDA</a:t>
            </a:r>
          </a:p>
          <a:p>
            <a:pPr algn="ctr">
              <a:lnSpc>
                <a:spcPts val="27718"/>
              </a:lnSpc>
            </a:pPr>
            <a:endParaRPr lang="en-US" sz="11601">
              <a:solidFill>
                <a:srgbClr val="3D414D"/>
              </a:solidFill>
              <a:latin typeface="Antonio"/>
              <a:ea typeface="Antonio"/>
              <a:cs typeface="Antonio"/>
              <a:sym typeface="Antoni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5445624" cy="2699444"/>
            <a:chOff x="0" y="0"/>
            <a:chExt cx="7260833" cy="3599258"/>
          </a:xfrm>
        </p:grpSpPr>
        <p:sp>
          <p:nvSpPr>
            <p:cNvPr id="3" name="TextBox 3"/>
            <p:cNvSpPr txBox="1"/>
            <p:nvPr/>
          </p:nvSpPr>
          <p:spPr>
            <a:xfrm>
              <a:off x="304088" y="200025"/>
              <a:ext cx="6956745" cy="3399233"/>
            </a:xfrm>
            <a:prstGeom prst="rect">
              <a:avLst/>
            </a:prstGeom>
          </p:spPr>
          <p:txBody>
            <a:bodyPr lIns="0" tIns="0" rIns="0" bIns="0" rtlCol="0" anchor="t">
              <a:spAutoFit/>
            </a:bodyPr>
            <a:lstStyle/>
            <a:p>
              <a:pPr algn="l">
                <a:lnSpc>
                  <a:spcPts val="9603"/>
                </a:lnSpc>
              </a:pPr>
              <a:r>
                <a:rPr lang="en-US" sz="9799" spc="-62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Project Overview</a:t>
              </a:r>
            </a:p>
          </p:txBody>
        </p:sp>
        <p:grpSp>
          <p:nvGrpSpPr>
            <p:cNvPr id="4" name="Group 4"/>
            <p:cNvGrpSpPr/>
            <p:nvPr/>
          </p:nvGrpSpPr>
          <p:grpSpPr>
            <a:xfrm>
              <a:off x="0" y="439184"/>
              <a:ext cx="63500" cy="2720890"/>
              <a:chOff x="0" y="0"/>
              <a:chExt cx="12543" cy="537460"/>
            </a:xfrm>
          </p:grpSpPr>
          <p:sp>
            <p:nvSpPr>
              <p:cNvPr id="5" name="Freeform 5"/>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6" name="TextBox 6"/>
              <p:cNvSpPr txBox="1"/>
              <p:nvPr/>
            </p:nvSpPr>
            <p:spPr>
              <a:xfrm>
                <a:off x="0" y="-38100"/>
                <a:ext cx="12543" cy="575560"/>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7" name="Group 7"/>
          <p:cNvGrpSpPr/>
          <p:nvPr/>
        </p:nvGrpSpPr>
        <p:grpSpPr>
          <a:xfrm>
            <a:off x="1028700" y="4312874"/>
            <a:ext cx="8201025" cy="379246"/>
            <a:chOff x="0" y="0"/>
            <a:chExt cx="10934700" cy="505662"/>
          </a:xfrm>
        </p:grpSpPr>
        <p:sp>
          <p:nvSpPr>
            <p:cNvPr id="8" name="TextBox 8"/>
            <p:cNvSpPr txBox="1"/>
            <p:nvPr/>
          </p:nvSpPr>
          <p:spPr>
            <a:xfrm>
              <a:off x="0" y="-49061"/>
              <a:ext cx="10820400" cy="554723"/>
            </a:xfrm>
            <a:prstGeom prst="rect">
              <a:avLst/>
            </a:prstGeom>
          </p:spPr>
          <p:txBody>
            <a:bodyPr lIns="0" tIns="0" rIns="0" bIns="0" rtlCol="0" anchor="t">
              <a:spAutoFit/>
            </a:bodyPr>
            <a:lstStyle/>
            <a:p>
              <a:pPr algn="l">
                <a:lnSpc>
                  <a:spcPts val="3318"/>
                </a:lnSpc>
              </a:pPr>
              <a:endParaRPr/>
            </a:p>
          </p:txBody>
        </p:sp>
        <p:sp>
          <p:nvSpPr>
            <p:cNvPr id="9" name="Freeform 9"/>
            <p:cNvSpPr/>
            <p:nvPr/>
          </p:nvSpPr>
          <p:spPr>
            <a:xfrm rot="-8687136">
              <a:off x="10617680"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sp>
        <p:nvSpPr>
          <p:cNvPr id="10" name="TextBox 10"/>
          <p:cNvSpPr txBox="1"/>
          <p:nvPr/>
        </p:nvSpPr>
        <p:spPr>
          <a:xfrm>
            <a:off x="1028700" y="4507737"/>
            <a:ext cx="9391772" cy="4565580"/>
          </a:xfrm>
          <a:prstGeom prst="rect">
            <a:avLst/>
          </a:prstGeom>
        </p:spPr>
        <p:txBody>
          <a:bodyPr lIns="0" tIns="0" rIns="0" bIns="0" rtlCol="0" anchor="t">
            <a:spAutoFit/>
          </a:bodyPr>
          <a:lstStyle/>
          <a:p>
            <a:pPr marL="697402" lvl="1" indent="-348701" algn="l">
              <a:lnSpc>
                <a:spcPts val="4522"/>
              </a:lnSpc>
              <a:buFont typeface="Arial"/>
              <a:buChar char="•"/>
            </a:pPr>
            <a:r>
              <a:rPr lang="en-US" sz="3230" b="1" spc="-9">
                <a:solidFill>
                  <a:srgbClr val="3A58E4"/>
                </a:solidFill>
                <a:latin typeface="Poppins Bold"/>
                <a:ea typeface="Poppins Bold"/>
                <a:cs typeface="Poppins Bold"/>
                <a:sym typeface="Poppins Bold"/>
              </a:rPr>
              <a:t>This project analyzes healthcare insurance data  using Exploratory Data Analysis (EDA).</a:t>
            </a:r>
          </a:p>
          <a:p>
            <a:pPr marL="697402" lvl="1" indent="-348701" algn="l">
              <a:lnSpc>
                <a:spcPts val="4522"/>
              </a:lnSpc>
              <a:buFont typeface="Arial"/>
              <a:buChar char="•"/>
            </a:pPr>
            <a:r>
              <a:rPr lang="en-US" sz="3230" b="1" spc="-9">
                <a:solidFill>
                  <a:srgbClr val="3A58E4"/>
                </a:solidFill>
                <a:latin typeface="Poppins Bold"/>
                <a:ea typeface="Poppins Bold"/>
                <a:cs typeface="Poppins Bold"/>
                <a:sym typeface="Poppins Bold"/>
              </a:rPr>
              <a:t>The objective is to understand how factors like age, BMI, smoking habits, and region affect  medical insurance charges.</a:t>
            </a:r>
          </a:p>
          <a:p>
            <a:pPr algn="just">
              <a:lnSpc>
                <a:spcPts val="4522"/>
              </a:lnSpc>
            </a:pPr>
            <a:endParaRPr lang="en-US" sz="3230" b="1" spc="-9">
              <a:solidFill>
                <a:srgbClr val="3A58E4"/>
              </a:solidFill>
              <a:latin typeface="Poppins Bold"/>
              <a:ea typeface="Poppins Bold"/>
              <a:cs typeface="Poppins Bold"/>
              <a:sym typeface="Poppins Bold"/>
            </a:endParaRPr>
          </a:p>
        </p:txBody>
      </p:sp>
      <p:sp>
        <p:nvSpPr>
          <p:cNvPr id="11" name="Freeform 11"/>
          <p:cNvSpPr/>
          <p:nvPr/>
        </p:nvSpPr>
        <p:spPr>
          <a:xfrm>
            <a:off x="11164184" y="1682159"/>
            <a:ext cx="6560224" cy="6591205"/>
          </a:xfrm>
          <a:custGeom>
            <a:avLst/>
            <a:gdLst/>
            <a:ahLst/>
            <a:cxnLst/>
            <a:rect l="l" t="t" r="r" b="b"/>
            <a:pathLst>
              <a:path w="6560224" h="6591205">
                <a:moveTo>
                  <a:pt x="0" y="0"/>
                </a:moveTo>
                <a:lnTo>
                  <a:pt x="6560225" y="0"/>
                </a:lnTo>
                <a:lnTo>
                  <a:pt x="6560225" y="6591205"/>
                </a:lnTo>
                <a:lnTo>
                  <a:pt x="0" y="659120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94403" y="0"/>
            <a:ext cx="6352295" cy="10287000"/>
            <a:chOff x="0" y="0"/>
            <a:chExt cx="984137" cy="1593725"/>
          </a:xfrm>
        </p:grpSpPr>
        <p:sp>
          <p:nvSpPr>
            <p:cNvPr id="3" name="Freeform 3"/>
            <p:cNvSpPr/>
            <p:nvPr/>
          </p:nvSpPr>
          <p:spPr>
            <a:xfrm>
              <a:off x="0" y="0"/>
              <a:ext cx="984137" cy="1593725"/>
            </a:xfrm>
            <a:custGeom>
              <a:avLst/>
              <a:gdLst/>
              <a:ahLst/>
              <a:cxnLst/>
              <a:rect l="l" t="t" r="r" b="b"/>
              <a:pathLst>
                <a:path w="984137" h="1593725">
                  <a:moveTo>
                    <a:pt x="0" y="0"/>
                  </a:moveTo>
                  <a:lnTo>
                    <a:pt x="984137" y="0"/>
                  </a:lnTo>
                  <a:lnTo>
                    <a:pt x="984137" y="1593725"/>
                  </a:lnTo>
                  <a:lnTo>
                    <a:pt x="0" y="1593725"/>
                  </a:lnTo>
                  <a:close/>
                </a:path>
              </a:pathLst>
            </a:custGeom>
            <a:blipFill>
              <a:blip r:embed="rId2"/>
              <a:stretch>
                <a:fillRect l="-64513" r="-64513"/>
              </a:stretch>
            </a:blipFill>
          </p:spPr>
        </p:sp>
      </p:grpSp>
      <p:sp>
        <p:nvSpPr>
          <p:cNvPr id="4" name="AutoShape 4"/>
          <p:cNvSpPr/>
          <p:nvPr/>
        </p:nvSpPr>
        <p:spPr>
          <a:xfrm flipH="1">
            <a:off x="4548367" y="0"/>
            <a:ext cx="0" cy="10287000"/>
          </a:xfrm>
          <a:prstGeom prst="line">
            <a:avLst/>
          </a:prstGeom>
          <a:ln w="19050" cap="rnd">
            <a:solidFill>
              <a:srgbClr val="3A58E4"/>
            </a:solidFill>
            <a:prstDash val="solid"/>
            <a:headEnd type="none" w="sm" len="sm"/>
            <a:tailEnd type="none" w="sm" len="sm"/>
          </a:ln>
        </p:spPr>
      </p:sp>
      <p:sp>
        <p:nvSpPr>
          <p:cNvPr id="5" name="Freeform 5"/>
          <p:cNvSpPr/>
          <p:nvPr/>
        </p:nvSpPr>
        <p:spPr>
          <a:xfrm>
            <a:off x="5177017" y="5870652"/>
            <a:ext cx="2350556" cy="457290"/>
          </a:xfrm>
          <a:custGeom>
            <a:avLst/>
            <a:gdLst/>
            <a:ahLst/>
            <a:cxnLst/>
            <a:rect l="l" t="t" r="r" b="b"/>
            <a:pathLst>
              <a:path w="2350556" h="457290">
                <a:moveTo>
                  <a:pt x="0" y="0"/>
                </a:moveTo>
                <a:lnTo>
                  <a:pt x="2350556" y="0"/>
                </a:lnTo>
                <a:lnTo>
                  <a:pt x="2350556" y="457290"/>
                </a:lnTo>
                <a:lnTo>
                  <a:pt x="0" y="457290"/>
                </a:lnTo>
                <a:lnTo>
                  <a:pt x="0" y="0"/>
                </a:lnTo>
                <a:close/>
              </a:path>
            </a:pathLst>
          </a:custGeom>
          <a:blipFill>
            <a:blip r:embed="rId3"/>
            <a:stretch>
              <a:fillRect/>
            </a:stretch>
          </a:blipFill>
        </p:spPr>
      </p:sp>
      <p:sp>
        <p:nvSpPr>
          <p:cNvPr id="6" name="TextBox 6"/>
          <p:cNvSpPr txBox="1"/>
          <p:nvPr/>
        </p:nvSpPr>
        <p:spPr>
          <a:xfrm>
            <a:off x="5341821" y="1228725"/>
            <a:ext cx="11533800" cy="2583685"/>
          </a:xfrm>
          <a:prstGeom prst="rect">
            <a:avLst/>
          </a:prstGeom>
        </p:spPr>
        <p:txBody>
          <a:bodyPr lIns="0" tIns="0" rIns="0" bIns="0" rtlCol="0" anchor="t">
            <a:spAutoFit/>
          </a:bodyPr>
          <a:lstStyle/>
          <a:p>
            <a:pPr algn="l">
              <a:lnSpc>
                <a:spcPts val="9902"/>
              </a:lnSpc>
            </a:pPr>
            <a:r>
              <a:rPr lang="en-US" sz="10104" spc="-646">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Problem Statement</a:t>
            </a:r>
          </a:p>
          <a:p>
            <a:pPr algn="l">
              <a:lnSpc>
                <a:spcPts val="9902"/>
              </a:lnSpc>
            </a:pPr>
            <a:endParaRPr lang="en-US" sz="10104" spc="-646">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endParaRPr>
          </a:p>
        </p:txBody>
      </p:sp>
      <p:sp>
        <p:nvSpPr>
          <p:cNvPr id="7" name="TextBox 7"/>
          <p:cNvSpPr txBox="1"/>
          <p:nvPr/>
        </p:nvSpPr>
        <p:spPr>
          <a:xfrm>
            <a:off x="5506625" y="3269552"/>
            <a:ext cx="11204192" cy="4484816"/>
          </a:xfrm>
          <a:prstGeom prst="rect">
            <a:avLst/>
          </a:prstGeom>
        </p:spPr>
        <p:txBody>
          <a:bodyPr lIns="0" tIns="0" rIns="0" bIns="0" rtlCol="0" anchor="t">
            <a:spAutoFit/>
          </a:bodyPr>
          <a:lstStyle/>
          <a:p>
            <a:pPr marL="782460" lvl="1" indent="-391230" algn="l">
              <a:lnSpc>
                <a:spcPts val="5073"/>
              </a:lnSpc>
              <a:buFont typeface="Arial"/>
              <a:buChar char="•"/>
            </a:pPr>
            <a:r>
              <a:rPr lang="en-US" sz="3624" b="1" spc="-10">
                <a:solidFill>
                  <a:srgbClr val="3A58E4"/>
                </a:solidFill>
                <a:latin typeface="Poppins Bold"/>
                <a:ea typeface="Poppins Bold"/>
                <a:cs typeface="Poppins Bold"/>
                <a:sym typeface="Poppins Bold"/>
              </a:rPr>
              <a:t>Healthcare costs vary significantly among individuals.</a:t>
            </a:r>
          </a:p>
          <a:p>
            <a:pPr marL="782460" lvl="1" indent="-391230" algn="l">
              <a:lnSpc>
                <a:spcPts val="5073"/>
              </a:lnSpc>
              <a:buFont typeface="Arial"/>
              <a:buChar char="•"/>
            </a:pPr>
            <a:r>
              <a:rPr lang="en-US" sz="3624" b="1" spc="-10">
                <a:solidFill>
                  <a:srgbClr val="3A58E4"/>
                </a:solidFill>
                <a:latin typeface="Poppins Bold"/>
                <a:ea typeface="Poppins Bold"/>
                <a:cs typeface="Poppins Bold"/>
                <a:sym typeface="Poppins Bold"/>
              </a:rPr>
              <a:t>This project aims to identify the key factors that influence insurance charges and understand their relationship with medical expenses.</a:t>
            </a:r>
          </a:p>
          <a:p>
            <a:pPr algn="just">
              <a:lnSpc>
                <a:spcPts val="5073"/>
              </a:lnSpc>
            </a:pPr>
            <a:endParaRPr lang="en-US" sz="3624" b="1" spc="-10">
              <a:solidFill>
                <a:srgbClr val="3A58E4"/>
              </a:solidFill>
              <a:latin typeface="Poppins Bold"/>
              <a:ea typeface="Poppins Bold"/>
              <a:cs typeface="Poppins Bold"/>
              <a:sym typeface="Poppi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11397" y="988983"/>
            <a:ext cx="13264457" cy="2499419"/>
          </a:xfrm>
          <a:prstGeom prst="rect">
            <a:avLst/>
          </a:prstGeom>
        </p:spPr>
        <p:txBody>
          <a:bodyPr lIns="0" tIns="0" rIns="0" bIns="0" rtlCol="0" anchor="t">
            <a:spAutoFit/>
          </a:bodyPr>
          <a:lstStyle/>
          <a:p>
            <a:pPr algn="l">
              <a:lnSpc>
                <a:spcPts val="9603"/>
              </a:lnSpc>
            </a:pPr>
            <a:r>
              <a:rPr lang="en-US" sz="9799" spc="-62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Dataset Information</a:t>
            </a:r>
          </a:p>
          <a:p>
            <a:pPr algn="l">
              <a:lnSpc>
                <a:spcPts val="9603"/>
              </a:lnSpc>
            </a:pPr>
            <a:endParaRPr lang="en-US" sz="9799" spc="-62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endParaRPr>
          </a:p>
        </p:txBody>
      </p:sp>
      <p:sp>
        <p:nvSpPr>
          <p:cNvPr id="3" name="TextBox 3"/>
          <p:cNvSpPr txBox="1"/>
          <p:nvPr/>
        </p:nvSpPr>
        <p:spPr>
          <a:xfrm>
            <a:off x="1697951" y="2062480"/>
            <a:ext cx="12813747" cy="7832784"/>
          </a:xfrm>
          <a:prstGeom prst="rect">
            <a:avLst/>
          </a:prstGeom>
        </p:spPr>
        <p:txBody>
          <a:bodyPr lIns="0" tIns="0" rIns="0" bIns="0" rtlCol="0" anchor="t">
            <a:spAutoFit/>
          </a:bodyPr>
          <a:lstStyle/>
          <a:p>
            <a:pPr algn="l">
              <a:lnSpc>
                <a:spcPts val="5351"/>
              </a:lnSpc>
            </a:pPr>
            <a:r>
              <a:rPr lang="en-US" sz="3822">
                <a:solidFill>
                  <a:srgbClr val="293E9C"/>
                </a:solidFill>
                <a:latin typeface="Canva Sans"/>
                <a:ea typeface="Canva Sans"/>
                <a:cs typeface="Canva Sans"/>
                <a:sym typeface="Canva Sans"/>
              </a:rPr>
              <a:t>      </a:t>
            </a:r>
            <a:r>
              <a:rPr lang="en-US" sz="3822" b="1">
                <a:solidFill>
                  <a:srgbClr val="293E9C"/>
                </a:solidFill>
                <a:latin typeface="Canva Sans Bold"/>
                <a:ea typeface="Canva Sans Bold"/>
                <a:cs typeface="Canva Sans Bold"/>
                <a:sym typeface="Canva Sans Bold"/>
              </a:rPr>
              <a:t>Feature               </a:t>
            </a:r>
          </a:p>
          <a:p>
            <a:pPr marL="803726" lvl="1" indent="-401863" algn="l">
              <a:lnSpc>
                <a:spcPts val="5211"/>
              </a:lnSpc>
              <a:buFont typeface="Arial"/>
              <a:buChar char="•"/>
            </a:pPr>
            <a:r>
              <a:rPr lang="en-US" sz="3722" b="1">
                <a:solidFill>
                  <a:srgbClr val="293E9C"/>
                </a:solidFill>
                <a:latin typeface="Canva Sans Bold"/>
                <a:ea typeface="Canva Sans Bold"/>
                <a:cs typeface="Canva Sans Bold"/>
                <a:sym typeface="Canva Sans Bold"/>
              </a:rPr>
              <a:t>age               :  Age of individual</a:t>
            </a:r>
          </a:p>
          <a:p>
            <a:pPr marL="803726" lvl="1" indent="-401863" algn="l">
              <a:lnSpc>
                <a:spcPts val="5211"/>
              </a:lnSpc>
              <a:spcBef>
                <a:spcPct val="0"/>
              </a:spcBef>
              <a:buFont typeface="Arial"/>
              <a:buChar char="•"/>
            </a:pPr>
            <a:r>
              <a:rPr lang="en-US" sz="3722" b="1">
                <a:solidFill>
                  <a:srgbClr val="293E9C"/>
                </a:solidFill>
                <a:latin typeface="Canva Sans Bold"/>
                <a:ea typeface="Canva Sans Bold"/>
                <a:cs typeface="Canva Sans Bold"/>
                <a:sym typeface="Canva Sans Bold"/>
              </a:rPr>
              <a:t>sex               : Gender</a:t>
            </a:r>
          </a:p>
          <a:p>
            <a:pPr marL="803726" lvl="1" indent="-401863" algn="l">
              <a:lnSpc>
                <a:spcPts val="5211"/>
              </a:lnSpc>
              <a:spcBef>
                <a:spcPct val="0"/>
              </a:spcBef>
              <a:buFont typeface="Arial"/>
              <a:buChar char="•"/>
            </a:pPr>
            <a:r>
              <a:rPr lang="en-US" sz="3722" b="1">
                <a:solidFill>
                  <a:srgbClr val="293E9C"/>
                </a:solidFill>
                <a:latin typeface="Canva Sans Bold"/>
                <a:ea typeface="Canva Sans Bold"/>
                <a:cs typeface="Canva Sans Bold"/>
                <a:sym typeface="Canva Sans Bold"/>
              </a:rPr>
              <a:t>bmi              :  Body Mass Index</a:t>
            </a:r>
          </a:p>
          <a:p>
            <a:pPr marL="803726" lvl="1" indent="-401863" algn="l">
              <a:lnSpc>
                <a:spcPts val="5211"/>
              </a:lnSpc>
              <a:spcBef>
                <a:spcPct val="0"/>
              </a:spcBef>
              <a:buFont typeface="Arial"/>
              <a:buChar char="•"/>
            </a:pPr>
            <a:r>
              <a:rPr lang="en-US" sz="3722" b="1">
                <a:solidFill>
                  <a:srgbClr val="293E9C"/>
                </a:solidFill>
                <a:latin typeface="Canva Sans Bold"/>
                <a:ea typeface="Canva Sans Bold"/>
                <a:cs typeface="Canva Sans Bold"/>
                <a:sym typeface="Canva Sans Bold"/>
              </a:rPr>
              <a:t>children     : Number of children</a:t>
            </a:r>
          </a:p>
          <a:p>
            <a:pPr marL="803726" lvl="1" indent="-401863" algn="l">
              <a:lnSpc>
                <a:spcPts val="5211"/>
              </a:lnSpc>
              <a:spcBef>
                <a:spcPct val="0"/>
              </a:spcBef>
              <a:buFont typeface="Arial"/>
              <a:buChar char="•"/>
            </a:pPr>
            <a:r>
              <a:rPr lang="en-US" sz="3722" b="1">
                <a:solidFill>
                  <a:srgbClr val="293E9C"/>
                </a:solidFill>
                <a:latin typeface="Canva Sans Bold"/>
                <a:ea typeface="Canva Sans Bold"/>
                <a:cs typeface="Canva Sans Bold"/>
                <a:sym typeface="Canva Sans Bold"/>
              </a:rPr>
              <a:t>smoker       :Smoking status</a:t>
            </a:r>
          </a:p>
          <a:p>
            <a:pPr marL="803726" lvl="1" indent="-401863" algn="l">
              <a:lnSpc>
                <a:spcPts val="5211"/>
              </a:lnSpc>
              <a:spcBef>
                <a:spcPct val="0"/>
              </a:spcBef>
              <a:buFont typeface="Arial"/>
              <a:buChar char="•"/>
            </a:pPr>
            <a:r>
              <a:rPr lang="en-US" sz="3722" b="1">
                <a:solidFill>
                  <a:srgbClr val="293E9C"/>
                </a:solidFill>
                <a:latin typeface="Canva Sans Bold"/>
                <a:ea typeface="Canva Sans Bold"/>
                <a:cs typeface="Canva Sans Bold"/>
                <a:sym typeface="Canva Sans Bold"/>
              </a:rPr>
              <a:t>region         : Residential region</a:t>
            </a:r>
          </a:p>
          <a:p>
            <a:pPr marL="803726" lvl="1" indent="-401863" algn="l">
              <a:lnSpc>
                <a:spcPts val="5211"/>
              </a:lnSpc>
              <a:spcBef>
                <a:spcPct val="0"/>
              </a:spcBef>
              <a:buFont typeface="Arial"/>
              <a:buChar char="•"/>
            </a:pPr>
            <a:r>
              <a:rPr lang="en-US" sz="3722" b="1">
                <a:solidFill>
                  <a:srgbClr val="293E9C"/>
                </a:solidFill>
                <a:latin typeface="Canva Sans Bold"/>
                <a:ea typeface="Canva Sans Bold"/>
                <a:cs typeface="Canva Sans Bold"/>
                <a:sym typeface="Canva Sans Bold"/>
              </a:rPr>
              <a:t>charges      : Medical insurance cost</a:t>
            </a:r>
          </a:p>
          <a:p>
            <a:pPr algn="ctr">
              <a:lnSpc>
                <a:spcPts val="5211"/>
              </a:lnSpc>
              <a:spcBef>
                <a:spcPct val="0"/>
              </a:spcBef>
            </a:pPr>
            <a:endParaRPr lang="en-US" sz="3722" b="1">
              <a:solidFill>
                <a:srgbClr val="293E9C"/>
              </a:solidFill>
              <a:latin typeface="Canva Sans Bold"/>
              <a:ea typeface="Canva Sans Bold"/>
              <a:cs typeface="Canva Sans Bold"/>
              <a:sym typeface="Canva Sans Bold"/>
            </a:endParaRPr>
          </a:p>
          <a:p>
            <a:pPr algn="l">
              <a:lnSpc>
                <a:spcPts val="5211"/>
              </a:lnSpc>
              <a:spcBef>
                <a:spcPct val="0"/>
              </a:spcBef>
            </a:pPr>
            <a:r>
              <a:rPr lang="en-US" sz="3722" b="1">
                <a:solidFill>
                  <a:srgbClr val="293E9C"/>
                </a:solidFill>
                <a:latin typeface="Canva Sans Bold"/>
                <a:ea typeface="Canva Sans Bold"/>
                <a:cs typeface="Canva Sans Bold"/>
                <a:sym typeface="Canva Sans Bold"/>
              </a:rPr>
              <a:t>Total Records: 1338</a:t>
            </a:r>
          </a:p>
          <a:p>
            <a:pPr algn="l">
              <a:lnSpc>
                <a:spcPts val="5211"/>
              </a:lnSpc>
              <a:spcBef>
                <a:spcPct val="0"/>
              </a:spcBef>
            </a:pPr>
            <a:r>
              <a:rPr lang="en-US" sz="3722" b="1">
                <a:solidFill>
                  <a:srgbClr val="293E9C"/>
                </a:solidFill>
                <a:latin typeface="Canva Sans Bold"/>
                <a:ea typeface="Canva Sans Bold"/>
                <a:cs typeface="Canva Sans Bold"/>
                <a:sym typeface="Canva Sans Bold"/>
              </a:rPr>
              <a:t>Total Features: 7</a:t>
            </a:r>
          </a:p>
          <a:p>
            <a:pPr algn="ctr">
              <a:lnSpc>
                <a:spcPts val="4791"/>
              </a:lnSpc>
              <a:spcBef>
                <a:spcPct val="0"/>
              </a:spcBef>
            </a:pPr>
            <a:r>
              <a:rPr lang="en-US" sz="3422">
                <a:solidFill>
                  <a:srgbClr val="293E9C"/>
                </a:solidFill>
                <a:latin typeface="Canva Sans"/>
                <a:ea typeface="Canva Sans"/>
                <a:cs typeface="Canva Sans"/>
                <a:sym typeface="Canva Sans"/>
              </a:rPr>
              <a:t>________________________________________</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a:off x="6542795" y="0"/>
            <a:ext cx="0" cy="10287000"/>
          </a:xfrm>
          <a:prstGeom prst="line">
            <a:avLst/>
          </a:prstGeom>
          <a:ln w="19050" cap="rnd">
            <a:solidFill>
              <a:srgbClr val="3A58E4"/>
            </a:solidFill>
            <a:prstDash val="solid"/>
            <a:headEnd type="none" w="sm" len="sm"/>
            <a:tailEnd type="none" w="sm" len="sm"/>
          </a:ln>
        </p:spPr>
      </p:sp>
      <p:sp>
        <p:nvSpPr>
          <p:cNvPr id="3" name="AutoShape 3"/>
          <p:cNvSpPr/>
          <p:nvPr/>
        </p:nvSpPr>
        <p:spPr>
          <a:xfrm>
            <a:off x="0" y="5320770"/>
            <a:ext cx="6542795" cy="0"/>
          </a:xfrm>
          <a:prstGeom prst="line">
            <a:avLst/>
          </a:prstGeom>
          <a:ln w="19050" cap="rnd">
            <a:solidFill>
              <a:srgbClr val="3A58E4"/>
            </a:solidFill>
            <a:prstDash val="solid"/>
            <a:headEnd type="none" w="sm" len="sm"/>
            <a:tailEnd type="none" w="sm" len="sm"/>
          </a:ln>
        </p:spPr>
      </p:sp>
      <p:grpSp>
        <p:nvGrpSpPr>
          <p:cNvPr id="4" name="Group 4"/>
          <p:cNvGrpSpPr/>
          <p:nvPr/>
        </p:nvGrpSpPr>
        <p:grpSpPr>
          <a:xfrm>
            <a:off x="186366" y="351407"/>
            <a:ext cx="4841955" cy="3902320"/>
            <a:chOff x="0" y="0"/>
            <a:chExt cx="955264" cy="769884"/>
          </a:xfrm>
        </p:grpSpPr>
        <p:sp>
          <p:nvSpPr>
            <p:cNvPr id="5" name="Freeform 5"/>
            <p:cNvSpPr/>
            <p:nvPr/>
          </p:nvSpPr>
          <p:spPr>
            <a:xfrm>
              <a:off x="0" y="0"/>
              <a:ext cx="955264" cy="769884"/>
            </a:xfrm>
            <a:custGeom>
              <a:avLst/>
              <a:gdLst/>
              <a:ahLst/>
              <a:cxnLst/>
              <a:rect l="l" t="t" r="r" b="b"/>
              <a:pathLst>
                <a:path w="955264" h="769884">
                  <a:moveTo>
                    <a:pt x="0" y="0"/>
                  </a:moveTo>
                  <a:lnTo>
                    <a:pt x="955264" y="0"/>
                  </a:lnTo>
                  <a:lnTo>
                    <a:pt x="955264" y="769884"/>
                  </a:lnTo>
                  <a:lnTo>
                    <a:pt x="0" y="769884"/>
                  </a:lnTo>
                  <a:close/>
                </a:path>
              </a:pathLst>
            </a:custGeom>
            <a:blipFill>
              <a:blip r:embed="rId2"/>
              <a:stretch>
                <a:fillRect l="-70890" r="-70890"/>
              </a:stretch>
            </a:blipFill>
          </p:spPr>
        </p:sp>
      </p:grpSp>
      <p:sp>
        <p:nvSpPr>
          <p:cNvPr id="6" name="TextBox 6"/>
          <p:cNvSpPr txBox="1"/>
          <p:nvPr/>
        </p:nvSpPr>
        <p:spPr>
          <a:xfrm>
            <a:off x="8056208" y="1228725"/>
            <a:ext cx="7107541" cy="2499419"/>
          </a:xfrm>
          <a:prstGeom prst="rect">
            <a:avLst/>
          </a:prstGeom>
        </p:spPr>
        <p:txBody>
          <a:bodyPr lIns="0" tIns="0" rIns="0" bIns="0" rtlCol="0" anchor="t">
            <a:spAutoFit/>
          </a:bodyPr>
          <a:lstStyle/>
          <a:p>
            <a:pPr algn="l">
              <a:lnSpc>
                <a:spcPts val="9603"/>
              </a:lnSpc>
            </a:pPr>
            <a:r>
              <a:rPr lang="en-US" sz="9799" spc="-62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Data</a:t>
            </a:r>
          </a:p>
          <a:p>
            <a:pPr algn="l">
              <a:lnSpc>
                <a:spcPts val="9603"/>
              </a:lnSpc>
            </a:pPr>
            <a:r>
              <a:rPr lang="en-US" sz="9799" spc="-62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Cleaning</a:t>
            </a:r>
          </a:p>
        </p:txBody>
      </p:sp>
      <p:sp>
        <p:nvSpPr>
          <p:cNvPr id="7" name="TextBox 7"/>
          <p:cNvSpPr txBox="1"/>
          <p:nvPr/>
        </p:nvSpPr>
        <p:spPr>
          <a:xfrm>
            <a:off x="7789387" y="4390297"/>
            <a:ext cx="9175871" cy="3720421"/>
          </a:xfrm>
          <a:prstGeom prst="rect">
            <a:avLst/>
          </a:prstGeom>
        </p:spPr>
        <p:txBody>
          <a:bodyPr lIns="0" tIns="0" rIns="0" bIns="0" rtlCol="0" anchor="t">
            <a:spAutoFit/>
          </a:bodyPr>
          <a:lstStyle/>
          <a:p>
            <a:pPr marL="761418" lvl="1" indent="-380709" algn="l">
              <a:lnSpc>
                <a:spcPts val="4937"/>
              </a:lnSpc>
              <a:buFont typeface="Arial"/>
              <a:buChar char="•"/>
            </a:pPr>
            <a:r>
              <a:rPr lang="en-US" sz="3526" b="1" spc="-10">
                <a:solidFill>
                  <a:srgbClr val="3A58E4"/>
                </a:solidFill>
                <a:latin typeface="Poppins Bold"/>
                <a:ea typeface="Poppins Bold"/>
                <a:cs typeface="Poppins Bold"/>
                <a:sym typeface="Poppins Bold"/>
              </a:rPr>
              <a:t> Checked missing values</a:t>
            </a:r>
          </a:p>
          <a:p>
            <a:pPr marL="761418" lvl="1" indent="-380709" algn="l">
              <a:lnSpc>
                <a:spcPts val="4937"/>
              </a:lnSpc>
              <a:buFont typeface="Arial"/>
              <a:buChar char="•"/>
            </a:pPr>
            <a:r>
              <a:rPr lang="en-US" sz="3526" b="1" spc="-10">
                <a:solidFill>
                  <a:srgbClr val="3A58E4"/>
                </a:solidFill>
                <a:latin typeface="Poppins Bold"/>
                <a:ea typeface="Poppins Bold"/>
                <a:cs typeface="Poppins Bold"/>
                <a:sym typeface="Poppins Bold"/>
              </a:rPr>
              <a:t>Checked duplicate records</a:t>
            </a:r>
          </a:p>
          <a:p>
            <a:pPr marL="761418" lvl="1" indent="-380709" algn="l">
              <a:lnSpc>
                <a:spcPts val="4937"/>
              </a:lnSpc>
              <a:buFont typeface="Arial"/>
              <a:buChar char="•"/>
            </a:pPr>
            <a:r>
              <a:rPr lang="en-US" sz="3526" b="1" spc="-10">
                <a:solidFill>
                  <a:srgbClr val="3A58E4"/>
                </a:solidFill>
                <a:latin typeface="Poppins Bold"/>
                <a:ea typeface="Poppins Bold"/>
                <a:cs typeface="Poppins Bold"/>
                <a:sym typeface="Poppins Bold"/>
              </a:rPr>
              <a:t> Verified data types</a:t>
            </a:r>
          </a:p>
          <a:p>
            <a:pPr marL="761418" lvl="1" indent="-380709" algn="l">
              <a:lnSpc>
                <a:spcPts val="4937"/>
              </a:lnSpc>
              <a:buFont typeface="Arial"/>
              <a:buChar char="•"/>
            </a:pPr>
            <a:r>
              <a:rPr lang="en-US" sz="3526" b="1" spc="-10">
                <a:solidFill>
                  <a:srgbClr val="3A58E4"/>
                </a:solidFill>
                <a:latin typeface="Poppins Bold"/>
                <a:ea typeface="Poppins Bold"/>
                <a:cs typeface="Poppins Bold"/>
                <a:sym typeface="Poppins Bold"/>
              </a:rPr>
              <a:t>Dataset was clean and ready for analysis</a:t>
            </a:r>
          </a:p>
          <a:p>
            <a:pPr algn="just">
              <a:lnSpc>
                <a:spcPts val="4937"/>
              </a:lnSpc>
            </a:pPr>
            <a:endParaRPr lang="en-US" sz="3526" b="1" spc="-10">
              <a:solidFill>
                <a:srgbClr val="3A58E4"/>
              </a:solidFill>
              <a:latin typeface="Poppins Bold"/>
              <a:ea typeface="Poppins Bold"/>
              <a:cs typeface="Poppins Bold"/>
              <a:sym typeface="Poppins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938179" cy="10287000"/>
            <a:chOff x="0" y="0"/>
            <a:chExt cx="1827339" cy="2709333"/>
          </a:xfrm>
        </p:grpSpPr>
        <p:sp>
          <p:nvSpPr>
            <p:cNvPr id="3" name="Freeform 3"/>
            <p:cNvSpPr/>
            <p:nvPr/>
          </p:nvSpPr>
          <p:spPr>
            <a:xfrm>
              <a:off x="0" y="0"/>
              <a:ext cx="1827339" cy="2709333"/>
            </a:xfrm>
            <a:custGeom>
              <a:avLst/>
              <a:gdLst/>
              <a:ahLst/>
              <a:cxnLst/>
              <a:rect l="l" t="t" r="r" b="b"/>
              <a:pathLst>
                <a:path w="1827339" h="2709333">
                  <a:moveTo>
                    <a:pt x="0" y="0"/>
                  </a:moveTo>
                  <a:lnTo>
                    <a:pt x="1827339" y="0"/>
                  </a:lnTo>
                  <a:lnTo>
                    <a:pt x="1827339"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4" name="TextBox 4"/>
            <p:cNvSpPr txBox="1"/>
            <p:nvPr/>
          </p:nvSpPr>
          <p:spPr>
            <a:xfrm>
              <a:off x="0" y="-38100"/>
              <a:ext cx="1827339"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343219" y="4032536"/>
            <a:ext cx="3189919" cy="620584"/>
          </a:xfrm>
          <a:custGeom>
            <a:avLst/>
            <a:gdLst/>
            <a:ahLst/>
            <a:cxnLst/>
            <a:rect l="l" t="t" r="r" b="b"/>
            <a:pathLst>
              <a:path w="3189919" h="620584">
                <a:moveTo>
                  <a:pt x="0" y="0"/>
                </a:moveTo>
                <a:lnTo>
                  <a:pt x="3189919" y="0"/>
                </a:lnTo>
                <a:lnTo>
                  <a:pt x="3189919" y="620584"/>
                </a:lnTo>
                <a:lnTo>
                  <a:pt x="0" y="620584"/>
                </a:lnTo>
                <a:lnTo>
                  <a:pt x="0" y="0"/>
                </a:lnTo>
                <a:close/>
              </a:path>
            </a:pathLst>
          </a:custGeom>
          <a:blipFill>
            <a:blip r:embed="rId2"/>
            <a:stretch>
              <a:fillRect/>
            </a:stretch>
          </a:blipFill>
        </p:spPr>
      </p:sp>
      <p:sp>
        <p:nvSpPr>
          <p:cNvPr id="6" name="Freeform 6"/>
          <p:cNvSpPr/>
          <p:nvPr/>
        </p:nvSpPr>
        <p:spPr>
          <a:xfrm>
            <a:off x="6541968" y="600944"/>
            <a:ext cx="11513944" cy="9415242"/>
          </a:xfrm>
          <a:custGeom>
            <a:avLst/>
            <a:gdLst/>
            <a:ahLst/>
            <a:cxnLst/>
            <a:rect l="l" t="t" r="r" b="b"/>
            <a:pathLst>
              <a:path w="11513944" h="9415242">
                <a:moveTo>
                  <a:pt x="0" y="0"/>
                </a:moveTo>
                <a:lnTo>
                  <a:pt x="11513944" y="0"/>
                </a:lnTo>
                <a:lnTo>
                  <a:pt x="11513944" y="9415243"/>
                </a:lnTo>
                <a:lnTo>
                  <a:pt x="0" y="9415243"/>
                </a:lnTo>
                <a:lnTo>
                  <a:pt x="0" y="0"/>
                </a:lnTo>
                <a:close/>
              </a:path>
            </a:pathLst>
          </a:custGeom>
          <a:blipFill>
            <a:blip r:embed="rId3"/>
            <a:stretch>
              <a:fillRect l="-5389" r="-3670"/>
            </a:stretch>
          </a:blipFill>
        </p:spPr>
      </p:sp>
      <p:sp>
        <p:nvSpPr>
          <p:cNvPr id="7" name="TextBox 7"/>
          <p:cNvSpPr txBox="1"/>
          <p:nvPr/>
        </p:nvSpPr>
        <p:spPr>
          <a:xfrm>
            <a:off x="751973" y="1677168"/>
            <a:ext cx="5445056" cy="8174863"/>
          </a:xfrm>
          <a:prstGeom prst="rect">
            <a:avLst/>
          </a:prstGeom>
        </p:spPr>
        <p:txBody>
          <a:bodyPr lIns="0" tIns="0" rIns="0" bIns="0" rtlCol="0" anchor="t">
            <a:spAutoFit/>
          </a:bodyPr>
          <a:lstStyle/>
          <a:p>
            <a:pPr marL="604523" lvl="1" indent="-302261" algn="l">
              <a:lnSpc>
                <a:spcPts val="3416"/>
              </a:lnSpc>
              <a:buFont typeface="Arial"/>
              <a:buChar char="•"/>
            </a:pPr>
            <a:r>
              <a:rPr lang="en-US" sz="2800" b="1">
                <a:solidFill>
                  <a:srgbClr val="FFFFFF"/>
                </a:solidFill>
                <a:latin typeface="Poppins Bold"/>
                <a:ea typeface="Poppins Bold"/>
                <a:cs typeface="Poppins Bold"/>
                <a:sym typeface="Poppins Bold"/>
              </a:rPr>
              <a:t>Overall, the dataset shows a mix of balanced and skewed distributions.</a:t>
            </a:r>
            <a:r>
              <a:rPr lang="en-US" sz="2800" b="1" u="sng">
                <a:solidFill>
                  <a:srgbClr val="FFFFFF"/>
                </a:solidFill>
                <a:latin typeface="Poppins Bold"/>
                <a:ea typeface="Poppins Bold"/>
                <a:cs typeface="Poppins Bold"/>
                <a:sym typeface="Poppins Bold"/>
                <a:hlinkClick r:id="rId4" tooltip="http://localhost:8888/notebooks/EDA%20PROJECT/Healthcare%20Costs/HealthcareCosts.ipynb#Overall,-the-dataset-shows-a-mix-of-balanced-and-skewed-distributions."/>
              </a:rPr>
              <a:t>¶</a:t>
            </a:r>
          </a:p>
          <a:p>
            <a:pPr algn="l">
              <a:lnSpc>
                <a:spcPts val="3416"/>
              </a:lnSpc>
            </a:pPr>
            <a:endParaRPr lang="en-US" sz="2800" b="1" u="sng">
              <a:solidFill>
                <a:srgbClr val="FFFFFF"/>
              </a:solidFill>
              <a:latin typeface="Poppins Bold"/>
              <a:ea typeface="Poppins Bold"/>
              <a:cs typeface="Poppins Bold"/>
              <a:sym typeface="Poppins Bold"/>
              <a:hlinkClick r:id="rId4" tooltip="http://localhost:8888/notebooks/EDA%20PROJECT/Healthcare%20Costs/HealthcareCosts.ipynb#Overall,-the-dataset-shows-a-mix-of-balanced-and-skewed-distributions."/>
            </a:endParaRPr>
          </a:p>
          <a:p>
            <a:pPr marL="604523" lvl="1" indent="-302261" algn="l">
              <a:lnSpc>
                <a:spcPts val="3416"/>
              </a:lnSpc>
              <a:buFont typeface="Arial"/>
              <a:buChar char="•"/>
            </a:pPr>
            <a:r>
              <a:rPr lang="en-US" sz="2800" b="1">
                <a:solidFill>
                  <a:srgbClr val="FFFFFF"/>
                </a:solidFill>
                <a:latin typeface="Poppins Bold"/>
                <a:ea typeface="Poppins Bold"/>
                <a:cs typeface="Poppins Bold"/>
                <a:sym typeface="Poppins Bold"/>
              </a:rPr>
              <a:t>Numerical features like age and BMI are fairly well spread, while charges show a strong right skew with few high-cost cases.</a:t>
            </a:r>
          </a:p>
          <a:p>
            <a:pPr algn="l">
              <a:lnSpc>
                <a:spcPts val="3416"/>
              </a:lnSpc>
            </a:pPr>
            <a:endParaRPr lang="en-US" sz="2800" b="1">
              <a:solidFill>
                <a:srgbClr val="FFFFFF"/>
              </a:solidFill>
              <a:latin typeface="Poppins Bold"/>
              <a:ea typeface="Poppins Bold"/>
              <a:cs typeface="Poppins Bold"/>
              <a:sym typeface="Poppins Bold"/>
            </a:endParaRPr>
          </a:p>
          <a:p>
            <a:pPr marL="604523" lvl="1" indent="-302261" algn="l">
              <a:lnSpc>
                <a:spcPts val="3416"/>
              </a:lnSpc>
              <a:buFont typeface="Arial"/>
              <a:buChar char="•"/>
            </a:pPr>
            <a:r>
              <a:rPr lang="en-US" sz="2800" b="1">
                <a:solidFill>
                  <a:srgbClr val="FFFFFF"/>
                </a:solidFill>
                <a:latin typeface="Poppins Bold"/>
                <a:ea typeface="Poppins Bold"/>
                <a:cs typeface="Poppins Bold"/>
                <a:sym typeface="Poppins Bold"/>
              </a:rPr>
              <a:t>Categorical features such as sex and region are balanced, but smoker status is highly imbalanced, which is likely to be a key factor influencing insurance cost.</a:t>
            </a:r>
          </a:p>
        </p:txBody>
      </p:sp>
      <p:sp>
        <p:nvSpPr>
          <p:cNvPr id="8" name="TextBox 8"/>
          <p:cNvSpPr txBox="1"/>
          <p:nvPr/>
        </p:nvSpPr>
        <p:spPr>
          <a:xfrm>
            <a:off x="232146" y="550628"/>
            <a:ext cx="6309822" cy="1529283"/>
          </a:xfrm>
          <a:prstGeom prst="rect">
            <a:avLst/>
          </a:prstGeom>
        </p:spPr>
        <p:txBody>
          <a:bodyPr lIns="0" tIns="0" rIns="0" bIns="0" rtlCol="0" anchor="t">
            <a:spAutoFit/>
          </a:bodyPr>
          <a:lstStyle/>
          <a:p>
            <a:pPr algn="l">
              <a:lnSpc>
                <a:spcPts val="5864"/>
              </a:lnSpc>
            </a:pPr>
            <a:r>
              <a:rPr lang="en-US" sz="5984" b="1" spc="-383">
                <a:solidFill>
                  <a:srgbClr val="FFFFFF"/>
                </a:solidFill>
                <a:latin typeface="Bricolage Grotesque Bold"/>
                <a:ea typeface="Bricolage Grotesque Bold"/>
                <a:cs typeface="Bricolage Grotesque Bold"/>
                <a:sym typeface="Bricolage Grotesque Bold"/>
              </a:rPr>
              <a:t>Univariate Analysis</a:t>
            </a:r>
          </a:p>
          <a:p>
            <a:pPr algn="l">
              <a:lnSpc>
                <a:spcPts val="5864"/>
              </a:lnSpc>
            </a:pPr>
            <a:endParaRPr lang="en-US" sz="5984" b="1" spc="-383">
              <a:solidFill>
                <a:srgbClr val="FFFFFF"/>
              </a:solidFill>
              <a:latin typeface="Bricolage Grotesque Bold"/>
              <a:ea typeface="Bricolage Grotesque Bold"/>
              <a:cs typeface="Bricolage Grotesque Bold"/>
              <a:sym typeface="Bricolage Grotesque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272161" cy="10287000"/>
            <a:chOff x="0" y="0"/>
            <a:chExt cx="1915302" cy="2709333"/>
          </a:xfrm>
        </p:grpSpPr>
        <p:sp>
          <p:nvSpPr>
            <p:cNvPr id="3" name="Freeform 3"/>
            <p:cNvSpPr/>
            <p:nvPr/>
          </p:nvSpPr>
          <p:spPr>
            <a:xfrm>
              <a:off x="0" y="0"/>
              <a:ext cx="1915302" cy="2709333"/>
            </a:xfrm>
            <a:custGeom>
              <a:avLst/>
              <a:gdLst/>
              <a:ahLst/>
              <a:cxnLst/>
              <a:rect l="l" t="t" r="r" b="b"/>
              <a:pathLst>
                <a:path w="1915302" h="2709333">
                  <a:moveTo>
                    <a:pt x="0" y="0"/>
                  </a:moveTo>
                  <a:lnTo>
                    <a:pt x="1915302" y="0"/>
                  </a:lnTo>
                  <a:lnTo>
                    <a:pt x="1915302"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4" name="TextBox 4"/>
            <p:cNvSpPr txBox="1"/>
            <p:nvPr/>
          </p:nvSpPr>
          <p:spPr>
            <a:xfrm>
              <a:off x="0" y="-38100"/>
              <a:ext cx="1915302"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677201" y="4032536"/>
            <a:ext cx="3189919" cy="620584"/>
          </a:xfrm>
          <a:custGeom>
            <a:avLst/>
            <a:gdLst/>
            <a:ahLst/>
            <a:cxnLst/>
            <a:rect l="l" t="t" r="r" b="b"/>
            <a:pathLst>
              <a:path w="3189919" h="620584">
                <a:moveTo>
                  <a:pt x="0" y="0"/>
                </a:moveTo>
                <a:lnTo>
                  <a:pt x="3189920" y="0"/>
                </a:lnTo>
                <a:lnTo>
                  <a:pt x="3189920" y="620584"/>
                </a:lnTo>
                <a:lnTo>
                  <a:pt x="0" y="620584"/>
                </a:lnTo>
                <a:lnTo>
                  <a:pt x="0" y="0"/>
                </a:lnTo>
                <a:close/>
              </a:path>
            </a:pathLst>
          </a:custGeom>
          <a:blipFill>
            <a:blip r:embed="rId2"/>
            <a:stretch>
              <a:fillRect/>
            </a:stretch>
          </a:blipFill>
        </p:spPr>
      </p:sp>
      <p:sp>
        <p:nvSpPr>
          <p:cNvPr id="6" name="Freeform 6"/>
          <p:cNvSpPr/>
          <p:nvPr/>
        </p:nvSpPr>
        <p:spPr>
          <a:xfrm>
            <a:off x="7580747" y="671013"/>
            <a:ext cx="10442175" cy="8865192"/>
          </a:xfrm>
          <a:custGeom>
            <a:avLst/>
            <a:gdLst/>
            <a:ahLst/>
            <a:cxnLst/>
            <a:rect l="l" t="t" r="r" b="b"/>
            <a:pathLst>
              <a:path w="10442175" h="8865192">
                <a:moveTo>
                  <a:pt x="0" y="0"/>
                </a:moveTo>
                <a:lnTo>
                  <a:pt x="10442175" y="0"/>
                </a:lnTo>
                <a:lnTo>
                  <a:pt x="10442175" y="8865192"/>
                </a:lnTo>
                <a:lnTo>
                  <a:pt x="0" y="8865192"/>
                </a:lnTo>
                <a:lnTo>
                  <a:pt x="0" y="0"/>
                </a:lnTo>
                <a:close/>
              </a:path>
            </a:pathLst>
          </a:custGeom>
          <a:blipFill>
            <a:blip r:embed="rId3"/>
            <a:stretch>
              <a:fillRect l="-8832" r="-4396"/>
            </a:stretch>
          </a:blipFill>
        </p:spPr>
      </p:sp>
      <p:sp>
        <p:nvSpPr>
          <p:cNvPr id="7" name="TextBox 7"/>
          <p:cNvSpPr txBox="1"/>
          <p:nvPr/>
        </p:nvSpPr>
        <p:spPr>
          <a:xfrm>
            <a:off x="48944" y="1712751"/>
            <a:ext cx="6840381" cy="7823454"/>
          </a:xfrm>
          <a:prstGeom prst="rect">
            <a:avLst/>
          </a:prstGeom>
        </p:spPr>
        <p:txBody>
          <a:bodyPr lIns="0" tIns="0" rIns="0" bIns="0" rtlCol="0" anchor="t">
            <a:spAutoFit/>
          </a:bodyPr>
          <a:lstStyle/>
          <a:p>
            <a:pPr marL="518165" lvl="1" indent="-259082" algn="l">
              <a:lnSpc>
                <a:spcPts val="2928"/>
              </a:lnSpc>
              <a:buFont typeface="Arial"/>
              <a:buChar char="•"/>
            </a:pPr>
            <a:r>
              <a:rPr lang="en-US" sz="2400" b="1">
                <a:solidFill>
                  <a:srgbClr val="FFFFFF"/>
                </a:solidFill>
                <a:latin typeface="Poppins Bold"/>
                <a:ea typeface="Poppins Bold"/>
                <a:cs typeface="Poppins Bold"/>
                <a:sym typeface="Poppins Bold"/>
              </a:rPr>
              <a:t>From the bivariate analysis, it is clear that insurance charges are not influenced equally by all features. The most important factor is smoking status, which shows a very strong impact—smokers have significantly higher charges compared to non-smokers.</a:t>
            </a:r>
          </a:p>
          <a:p>
            <a:pPr algn="l">
              <a:lnSpc>
                <a:spcPts val="2928"/>
              </a:lnSpc>
            </a:pPr>
            <a:endParaRPr lang="en-US" sz="2400" b="1">
              <a:solidFill>
                <a:srgbClr val="FFFFFF"/>
              </a:solidFill>
              <a:latin typeface="Poppins Bold"/>
              <a:ea typeface="Poppins Bold"/>
              <a:cs typeface="Poppins Bold"/>
              <a:sym typeface="Poppins Bold"/>
            </a:endParaRPr>
          </a:p>
          <a:p>
            <a:pPr marL="518165" lvl="1" indent="-259082" algn="l">
              <a:lnSpc>
                <a:spcPts val="2928"/>
              </a:lnSpc>
              <a:buFont typeface="Arial"/>
              <a:buChar char="•"/>
            </a:pPr>
            <a:r>
              <a:rPr lang="en-US" sz="2400" b="1">
                <a:solidFill>
                  <a:srgbClr val="FFFFFF"/>
                </a:solidFill>
                <a:latin typeface="Poppins Bold"/>
                <a:ea typeface="Poppins Bold"/>
                <a:cs typeface="Poppins Bold"/>
                <a:sym typeface="Poppins Bold"/>
              </a:rPr>
              <a:t>Other variables like age and BMI show a weak positive relationship with charges, indicating that costs increase slightly with higher age and body mass index, but the effect is not strong on its own.</a:t>
            </a:r>
          </a:p>
          <a:p>
            <a:pPr algn="l">
              <a:lnSpc>
                <a:spcPts val="2928"/>
              </a:lnSpc>
            </a:pPr>
            <a:endParaRPr lang="en-US" sz="2400" b="1">
              <a:solidFill>
                <a:srgbClr val="FFFFFF"/>
              </a:solidFill>
              <a:latin typeface="Poppins Bold"/>
              <a:ea typeface="Poppins Bold"/>
              <a:cs typeface="Poppins Bold"/>
              <a:sym typeface="Poppins Bold"/>
            </a:endParaRPr>
          </a:p>
          <a:p>
            <a:pPr marL="518165" lvl="1" indent="-259082" algn="l">
              <a:lnSpc>
                <a:spcPts val="2928"/>
              </a:lnSpc>
              <a:buFont typeface="Arial"/>
              <a:buChar char="•"/>
            </a:pPr>
            <a:r>
              <a:rPr lang="en-US" sz="2400" b="1">
                <a:solidFill>
                  <a:srgbClr val="FFFFFF"/>
                </a:solidFill>
                <a:latin typeface="Poppins Bold"/>
                <a:ea typeface="Poppins Bold"/>
                <a:cs typeface="Poppins Bold"/>
                <a:sym typeface="Poppins Bold"/>
              </a:rPr>
              <a:t>Overall, the analysis suggests that lifestyle-related factors (especially smoking) are the key drivers of medical insurance cost, while demographic factors play a secondary or minimal role.</a:t>
            </a:r>
          </a:p>
        </p:txBody>
      </p:sp>
      <p:sp>
        <p:nvSpPr>
          <p:cNvPr id="8" name="TextBox 8"/>
          <p:cNvSpPr txBox="1"/>
          <p:nvPr/>
        </p:nvSpPr>
        <p:spPr>
          <a:xfrm>
            <a:off x="232146" y="550628"/>
            <a:ext cx="6473978" cy="1529283"/>
          </a:xfrm>
          <a:prstGeom prst="rect">
            <a:avLst/>
          </a:prstGeom>
        </p:spPr>
        <p:txBody>
          <a:bodyPr lIns="0" tIns="0" rIns="0" bIns="0" rtlCol="0" anchor="t">
            <a:spAutoFit/>
          </a:bodyPr>
          <a:lstStyle/>
          <a:p>
            <a:pPr algn="l">
              <a:lnSpc>
                <a:spcPts val="5864"/>
              </a:lnSpc>
            </a:pPr>
            <a:r>
              <a:rPr lang="en-US" sz="5984" b="1" spc="-383">
                <a:solidFill>
                  <a:srgbClr val="FFFFFF"/>
                </a:solidFill>
                <a:latin typeface="Bricolage Grotesque Bold"/>
                <a:ea typeface="Bricolage Grotesque Bold"/>
                <a:cs typeface="Bricolage Grotesque Bold"/>
                <a:sym typeface="Bricolage Grotesque Bold"/>
              </a:rPr>
              <a:t>Bivariate Analysis</a:t>
            </a:r>
          </a:p>
          <a:p>
            <a:pPr algn="l">
              <a:lnSpc>
                <a:spcPts val="5864"/>
              </a:lnSpc>
            </a:pPr>
            <a:endParaRPr lang="en-US" sz="5984" b="1" spc="-383">
              <a:solidFill>
                <a:srgbClr val="FFFFFF"/>
              </a:solidFill>
              <a:latin typeface="Bricolage Grotesque Bold"/>
              <a:ea typeface="Bricolage Grotesque Bold"/>
              <a:cs typeface="Bricolage Grotesque Bold"/>
              <a:sym typeface="Bricolage Grotesque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272161" cy="10287000"/>
            <a:chOff x="0" y="0"/>
            <a:chExt cx="1915302" cy="2709333"/>
          </a:xfrm>
        </p:grpSpPr>
        <p:sp>
          <p:nvSpPr>
            <p:cNvPr id="3" name="Freeform 3"/>
            <p:cNvSpPr/>
            <p:nvPr/>
          </p:nvSpPr>
          <p:spPr>
            <a:xfrm>
              <a:off x="0" y="0"/>
              <a:ext cx="1915302" cy="2709333"/>
            </a:xfrm>
            <a:custGeom>
              <a:avLst/>
              <a:gdLst/>
              <a:ahLst/>
              <a:cxnLst/>
              <a:rect l="l" t="t" r="r" b="b"/>
              <a:pathLst>
                <a:path w="1915302" h="2709333">
                  <a:moveTo>
                    <a:pt x="0" y="0"/>
                  </a:moveTo>
                  <a:lnTo>
                    <a:pt x="1915302" y="0"/>
                  </a:lnTo>
                  <a:lnTo>
                    <a:pt x="1915302"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4" name="TextBox 4"/>
            <p:cNvSpPr txBox="1"/>
            <p:nvPr/>
          </p:nvSpPr>
          <p:spPr>
            <a:xfrm>
              <a:off x="0" y="-38100"/>
              <a:ext cx="1915302"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677201" y="4032536"/>
            <a:ext cx="3189919" cy="620584"/>
          </a:xfrm>
          <a:custGeom>
            <a:avLst/>
            <a:gdLst/>
            <a:ahLst/>
            <a:cxnLst/>
            <a:rect l="l" t="t" r="r" b="b"/>
            <a:pathLst>
              <a:path w="3189919" h="620584">
                <a:moveTo>
                  <a:pt x="0" y="0"/>
                </a:moveTo>
                <a:lnTo>
                  <a:pt x="3189920" y="0"/>
                </a:lnTo>
                <a:lnTo>
                  <a:pt x="3189920" y="620584"/>
                </a:lnTo>
                <a:lnTo>
                  <a:pt x="0" y="620584"/>
                </a:lnTo>
                <a:lnTo>
                  <a:pt x="0" y="0"/>
                </a:lnTo>
                <a:close/>
              </a:path>
            </a:pathLst>
          </a:custGeom>
          <a:blipFill>
            <a:blip r:embed="rId2"/>
            <a:stretch>
              <a:fillRect/>
            </a:stretch>
          </a:blipFill>
        </p:spPr>
      </p:sp>
      <p:sp>
        <p:nvSpPr>
          <p:cNvPr id="6" name="Freeform 6"/>
          <p:cNvSpPr/>
          <p:nvPr/>
        </p:nvSpPr>
        <p:spPr>
          <a:xfrm>
            <a:off x="7272161" y="0"/>
            <a:ext cx="11015839" cy="10287000"/>
          </a:xfrm>
          <a:custGeom>
            <a:avLst/>
            <a:gdLst/>
            <a:ahLst/>
            <a:cxnLst/>
            <a:rect l="l" t="t" r="r" b="b"/>
            <a:pathLst>
              <a:path w="11015839" h="10287000">
                <a:moveTo>
                  <a:pt x="0" y="0"/>
                </a:moveTo>
                <a:lnTo>
                  <a:pt x="11015839" y="0"/>
                </a:lnTo>
                <a:lnTo>
                  <a:pt x="11015839" y="10287000"/>
                </a:lnTo>
                <a:lnTo>
                  <a:pt x="0" y="10287000"/>
                </a:lnTo>
                <a:lnTo>
                  <a:pt x="0" y="0"/>
                </a:lnTo>
                <a:close/>
              </a:path>
            </a:pathLst>
          </a:custGeom>
          <a:blipFill>
            <a:blip r:embed="rId3"/>
            <a:stretch>
              <a:fillRect l="-666" r="-666" b="-1129"/>
            </a:stretch>
          </a:blipFill>
        </p:spPr>
      </p:sp>
      <p:sp>
        <p:nvSpPr>
          <p:cNvPr id="7" name="TextBox 7"/>
          <p:cNvSpPr txBox="1"/>
          <p:nvPr/>
        </p:nvSpPr>
        <p:spPr>
          <a:xfrm>
            <a:off x="322537" y="2240264"/>
            <a:ext cx="6264724" cy="4907793"/>
          </a:xfrm>
          <a:prstGeom prst="rect">
            <a:avLst/>
          </a:prstGeom>
        </p:spPr>
        <p:txBody>
          <a:bodyPr lIns="0" tIns="0" rIns="0" bIns="0" rtlCol="0" anchor="t">
            <a:spAutoFit/>
          </a:bodyPr>
          <a:lstStyle/>
          <a:p>
            <a:pPr marL="625686" lvl="1" indent="-312843" algn="l">
              <a:lnSpc>
                <a:spcPts val="3535"/>
              </a:lnSpc>
              <a:buFont typeface="Arial"/>
              <a:buChar char="•"/>
            </a:pPr>
            <a:r>
              <a:rPr lang="en-US" sz="2898" b="1">
                <a:solidFill>
                  <a:srgbClr val="FFFFFF"/>
                </a:solidFill>
                <a:latin typeface="Poppins Bold"/>
                <a:ea typeface="Poppins Bold"/>
                <a:cs typeface="Poppins Bold"/>
                <a:sym typeface="Poppins Bold"/>
              </a:rPr>
              <a:t>The multivariate analysis reveals that insurance charges are influenced by the combined effect of multiple factors such as age, BMI, and smoking status. Among all variables, smoking emerged as the most significant factor associated with higher medical expenses.</a:t>
            </a:r>
          </a:p>
          <a:p>
            <a:pPr algn="l">
              <a:lnSpc>
                <a:spcPts val="3291"/>
              </a:lnSpc>
            </a:pPr>
            <a:endParaRPr lang="en-US" sz="2898" b="1">
              <a:solidFill>
                <a:srgbClr val="FFFFFF"/>
              </a:solidFill>
              <a:latin typeface="Poppins Bold"/>
              <a:ea typeface="Poppins Bold"/>
              <a:cs typeface="Poppins Bold"/>
              <a:sym typeface="Poppins Bold"/>
            </a:endParaRPr>
          </a:p>
        </p:txBody>
      </p:sp>
      <p:sp>
        <p:nvSpPr>
          <p:cNvPr id="8" name="TextBox 8"/>
          <p:cNvSpPr txBox="1"/>
          <p:nvPr/>
        </p:nvSpPr>
        <p:spPr>
          <a:xfrm>
            <a:off x="48944" y="577987"/>
            <a:ext cx="7223217" cy="1529283"/>
          </a:xfrm>
          <a:prstGeom prst="rect">
            <a:avLst/>
          </a:prstGeom>
        </p:spPr>
        <p:txBody>
          <a:bodyPr lIns="0" tIns="0" rIns="0" bIns="0" rtlCol="0" anchor="t">
            <a:spAutoFit/>
          </a:bodyPr>
          <a:lstStyle/>
          <a:p>
            <a:pPr algn="l">
              <a:lnSpc>
                <a:spcPts val="5864"/>
              </a:lnSpc>
            </a:pPr>
            <a:r>
              <a:rPr lang="en-US" sz="5984" b="1" spc="-383">
                <a:solidFill>
                  <a:srgbClr val="FFFFFF"/>
                </a:solidFill>
                <a:latin typeface="Bricolage Grotesque Bold"/>
                <a:ea typeface="Bricolage Grotesque Bold"/>
                <a:cs typeface="Bricolage Grotesque Bold"/>
                <a:sym typeface="Bricolage Grotesque Bold"/>
              </a:rPr>
              <a:t> Multivariate  Analysis</a:t>
            </a:r>
          </a:p>
          <a:p>
            <a:pPr algn="l">
              <a:lnSpc>
                <a:spcPts val="5864"/>
              </a:lnSpc>
            </a:pPr>
            <a:endParaRPr lang="en-US" sz="5984" b="1" spc="-383">
              <a:solidFill>
                <a:srgbClr val="FFFFFF"/>
              </a:solidFill>
              <a:latin typeface="Bricolage Grotesque Bold"/>
              <a:ea typeface="Bricolage Grotesque Bold"/>
              <a:cs typeface="Bricolage Grotesque Bold"/>
              <a:sym typeface="Bricolage Grotesque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97048" y="1572582"/>
            <a:ext cx="6890552" cy="2235467"/>
          </a:xfrm>
          <a:prstGeom prst="rect">
            <a:avLst/>
          </a:prstGeom>
        </p:spPr>
        <p:txBody>
          <a:bodyPr lIns="0" tIns="0" rIns="0" bIns="0" rtlCol="0" anchor="t">
            <a:spAutoFit/>
          </a:bodyPr>
          <a:lstStyle/>
          <a:p>
            <a:pPr algn="l">
              <a:lnSpc>
                <a:spcPts val="8584"/>
              </a:lnSpc>
            </a:pPr>
            <a:r>
              <a:rPr lang="en-US" sz="8759" b="1" spc="-560">
                <a:gradFill>
                  <a:gsLst>
                    <a:gs pos="0">
                      <a:srgbClr val="293E9C">
                        <a:alpha val="100000"/>
                      </a:srgbClr>
                    </a:gs>
                    <a:gs pos="100000">
                      <a:srgbClr val="3A58E4">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Key Findings</a:t>
            </a:r>
          </a:p>
          <a:p>
            <a:pPr algn="l">
              <a:lnSpc>
                <a:spcPts val="8584"/>
              </a:lnSpc>
            </a:pPr>
            <a:endParaRPr lang="en-US" sz="8759" b="1" spc="-560">
              <a:gradFill>
                <a:gsLst>
                  <a:gs pos="0">
                    <a:srgbClr val="293E9C">
                      <a:alpha val="100000"/>
                    </a:srgbClr>
                  </a:gs>
                  <a:gs pos="100000">
                    <a:srgbClr val="3A58E4">
                      <a:alpha val="100000"/>
                    </a:srgbClr>
                  </a:gs>
                </a:gsLst>
                <a:path path="circle">
                  <a:fillToRect r="100000" b="100000"/>
                </a:path>
                <a:tileRect l="-100000" t="-100000"/>
              </a:gradFill>
              <a:latin typeface="Bricolage Grotesque Bold"/>
              <a:ea typeface="Bricolage Grotesque Bold"/>
              <a:cs typeface="Bricolage Grotesque Bold"/>
              <a:sym typeface="Bricolage Grotesque Bold"/>
            </a:endParaRPr>
          </a:p>
        </p:txBody>
      </p:sp>
      <p:grpSp>
        <p:nvGrpSpPr>
          <p:cNvPr id="3" name="Group 3"/>
          <p:cNvGrpSpPr/>
          <p:nvPr/>
        </p:nvGrpSpPr>
        <p:grpSpPr>
          <a:xfrm>
            <a:off x="1028700" y="1358088"/>
            <a:ext cx="47625" cy="2040668"/>
            <a:chOff x="0" y="0"/>
            <a:chExt cx="12543" cy="537460"/>
          </a:xfrm>
        </p:grpSpPr>
        <p:sp>
          <p:nvSpPr>
            <p:cNvPr id="4" name="Freeform 4"/>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5" name="TextBox 5"/>
            <p:cNvSpPr txBox="1"/>
            <p:nvPr/>
          </p:nvSpPr>
          <p:spPr>
            <a:xfrm>
              <a:off x="0" y="-38100"/>
              <a:ext cx="12543" cy="57556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0174029" y="2100983"/>
            <a:ext cx="6051187" cy="7157317"/>
          </a:xfrm>
          <a:custGeom>
            <a:avLst/>
            <a:gdLst/>
            <a:ahLst/>
            <a:cxnLst/>
            <a:rect l="l" t="t" r="r" b="b"/>
            <a:pathLst>
              <a:path w="6051187" h="7157317">
                <a:moveTo>
                  <a:pt x="0" y="0"/>
                </a:moveTo>
                <a:lnTo>
                  <a:pt x="6051186" y="0"/>
                </a:lnTo>
                <a:lnTo>
                  <a:pt x="6051186" y="7157317"/>
                </a:lnTo>
                <a:lnTo>
                  <a:pt x="0" y="715731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TextBox 7"/>
          <p:cNvSpPr txBox="1"/>
          <p:nvPr/>
        </p:nvSpPr>
        <p:spPr>
          <a:xfrm>
            <a:off x="1870201" y="4638005"/>
            <a:ext cx="8121938" cy="1378781"/>
          </a:xfrm>
          <a:prstGeom prst="rect">
            <a:avLst/>
          </a:prstGeom>
        </p:spPr>
        <p:txBody>
          <a:bodyPr lIns="0" tIns="0" rIns="0" bIns="0" rtlCol="0" anchor="t">
            <a:spAutoFit/>
          </a:bodyPr>
          <a:lstStyle/>
          <a:p>
            <a:pPr algn="just">
              <a:lnSpc>
                <a:spcPts val="4434"/>
              </a:lnSpc>
            </a:pPr>
            <a:r>
              <a:rPr lang="en-US" sz="3167" b="1" spc="-79">
                <a:solidFill>
                  <a:srgbClr val="3A58E4"/>
                </a:solidFill>
                <a:latin typeface="Poppins Bold"/>
                <a:ea typeface="Poppins Bold"/>
                <a:cs typeface="Poppins Bold"/>
                <a:sym typeface="Poppins Bold"/>
              </a:rPr>
              <a:t>Smoking is the most influential factor</a:t>
            </a:r>
          </a:p>
          <a:p>
            <a:pPr algn="just">
              <a:lnSpc>
                <a:spcPts val="3174"/>
              </a:lnSpc>
            </a:pPr>
            <a:endParaRPr lang="en-US" sz="3167" b="1" spc="-79">
              <a:solidFill>
                <a:srgbClr val="3A58E4"/>
              </a:solidFill>
              <a:latin typeface="Poppins Bold"/>
              <a:ea typeface="Poppins Bold"/>
              <a:cs typeface="Poppins Bold"/>
              <a:sym typeface="Poppins Bold"/>
            </a:endParaRPr>
          </a:p>
          <a:p>
            <a:pPr algn="just">
              <a:lnSpc>
                <a:spcPts val="3174"/>
              </a:lnSpc>
            </a:pPr>
            <a:endParaRPr lang="en-US" sz="3167" b="1" spc="-79">
              <a:solidFill>
                <a:srgbClr val="3A58E4"/>
              </a:solidFill>
              <a:latin typeface="Poppins Bold"/>
              <a:ea typeface="Poppins Bold"/>
              <a:cs typeface="Poppins Bold"/>
              <a:sym typeface="Poppins Bold"/>
            </a:endParaRPr>
          </a:p>
        </p:txBody>
      </p:sp>
      <p:sp>
        <p:nvSpPr>
          <p:cNvPr id="8" name="TextBox 8"/>
          <p:cNvSpPr txBox="1"/>
          <p:nvPr/>
        </p:nvSpPr>
        <p:spPr>
          <a:xfrm>
            <a:off x="1870201" y="5629297"/>
            <a:ext cx="7273799" cy="1378781"/>
          </a:xfrm>
          <a:prstGeom prst="rect">
            <a:avLst/>
          </a:prstGeom>
        </p:spPr>
        <p:txBody>
          <a:bodyPr lIns="0" tIns="0" rIns="0" bIns="0" rtlCol="0" anchor="t">
            <a:spAutoFit/>
          </a:bodyPr>
          <a:lstStyle/>
          <a:p>
            <a:pPr algn="just">
              <a:lnSpc>
                <a:spcPts val="4434"/>
              </a:lnSpc>
            </a:pPr>
            <a:r>
              <a:rPr lang="en-US" sz="3167" b="1" spc="-79">
                <a:solidFill>
                  <a:srgbClr val="3A58E4"/>
                </a:solidFill>
                <a:latin typeface="Poppins Bold"/>
                <a:ea typeface="Poppins Bold"/>
                <a:cs typeface="Poppins Bold"/>
                <a:sym typeface="Poppins Bold"/>
              </a:rPr>
              <a:t>BMI and age strongly affect charges</a:t>
            </a:r>
          </a:p>
          <a:p>
            <a:pPr algn="just">
              <a:lnSpc>
                <a:spcPts val="3174"/>
              </a:lnSpc>
            </a:pPr>
            <a:endParaRPr lang="en-US" sz="3167" b="1" spc="-79">
              <a:solidFill>
                <a:srgbClr val="3A58E4"/>
              </a:solidFill>
              <a:latin typeface="Poppins Bold"/>
              <a:ea typeface="Poppins Bold"/>
              <a:cs typeface="Poppins Bold"/>
              <a:sym typeface="Poppins Bold"/>
            </a:endParaRPr>
          </a:p>
          <a:p>
            <a:pPr algn="just">
              <a:lnSpc>
                <a:spcPts val="3174"/>
              </a:lnSpc>
            </a:pPr>
            <a:endParaRPr lang="en-US" sz="3167" b="1" spc="-79">
              <a:solidFill>
                <a:srgbClr val="3A58E4"/>
              </a:solidFill>
              <a:latin typeface="Poppins Bold"/>
              <a:ea typeface="Poppins Bold"/>
              <a:cs typeface="Poppins Bold"/>
              <a:sym typeface="Poppins Bold"/>
            </a:endParaRPr>
          </a:p>
        </p:txBody>
      </p:sp>
      <p:sp>
        <p:nvSpPr>
          <p:cNvPr id="9" name="TextBox 9"/>
          <p:cNvSpPr txBox="1"/>
          <p:nvPr/>
        </p:nvSpPr>
        <p:spPr>
          <a:xfrm>
            <a:off x="1870201" y="6870143"/>
            <a:ext cx="7273799" cy="1129227"/>
          </a:xfrm>
          <a:prstGeom prst="rect">
            <a:avLst/>
          </a:prstGeom>
        </p:spPr>
        <p:txBody>
          <a:bodyPr lIns="0" tIns="0" rIns="0" bIns="0" rtlCol="0" anchor="t">
            <a:spAutoFit/>
          </a:bodyPr>
          <a:lstStyle/>
          <a:p>
            <a:pPr algn="just">
              <a:lnSpc>
                <a:spcPts val="4434"/>
              </a:lnSpc>
            </a:pPr>
            <a:r>
              <a:rPr lang="en-US" sz="3167" b="1" spc="-79">
                <a:solidFill>
                  <a:srgbClr val="3A58E4"/>
                </a:solidFill>
                <a:latin typeface="Poppins Bold"/>
                <a:ea typeface="Poppins Bold"/>
                <a:cs typeface="Poppins Bold"/>
                <a:sym typeface="Poppins Bold"/>
              </a:rPr>
              <a:t>Non-smokers generally have lower expenses</a:t>
            </a:r>
          </a:p>
        </p:txBody>
      </p:sp>
      <p:sp>
        <p:nvSpPr>
          <p:cNvPr id="10" name="TextBox 10"/>
          <p:cNvSpPr txBox="1"/>
          <p:nvPr/>
        </p:nvSpPr>
        <p:spPr>
          <a:xfrm>
            <a:off x="1870201" y="8423409"/>
            <a:ext cx="7273799" cy="567252"/>
          </a:xfrm>
          <a:prstGeom prst="rect">
            <a:avLst/>
          </a:prstGeom>
        </p:spPr>
        <p:txBody>
          <a:bodyPr lIns="0" tIns="0" rIns="0" bIns="0" rtlCol="0" anchor="t">
            <a:spAutoFit/>
          </a:bodyPr>
          <a:lstStyle/>
          <a:p>
            <a:pPr algn="just">
              <a:lnSpc>
                <a:spcPts val="4434"/>
              </a:lnSpc>
            </a:pPr>
            <a:r>
              <a:rPr lang="en-US" sz="3167" b="1" spc="-79">
                <a:solidFill>
                  <a:srgbClr val="3A58E4"/>
                </a:solidFill>
                <a:latin typeface="Poppins Bold"/>
                <a:ea typeface="Poppins Bold"/>
                <a:cs typeface="Poppins Bold"/>
                <a:sym typeface="Poppins Bold"/>
              </a:rPr>
              <a:t>Region has relatively smaller impact</a:t>
            </a:r>
          </a:p>
        </p:txBody>
      </p:sp>
      <p:sp>
        <p:nvSpPr>
          <p:cNvPr id="11" name="Freeform 11"/>
          <p:cNvSpPr/>
          <p:nvPr/>
        </p:nvSpPr>
        <p:spPr>
          <a:xfrm>
            <a:off x="1076325" y="4723730"/>
            <a:ext cx="441446" cy="441446"/>
          </a:xfrm>
          <a:custGeom>
            <a:avLst/>
            <a:gdLst/>
            <a:ahLst/>
            <a:cxnLst/>
            <a:rect l="l" t="t" r="r" b="b"/>
            <a:pathLst>
              <a:path w="441446" h="441446">
                <a:moveTo>
                  <a:pt x="0" y="0"/>
                </a:moveTo>
                <a:lnTo>
                  <a:pt x="441446" y="0"/>
                </a:lnTo>
                <a:lnTo>
                  <a:pt x="441446" y="441446"/>
                </a:lnTo>
                <a:lnTo>
                  <a:pt x="0" y="44144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2" name="Freeform 12"/>
          <p:cNvSpPr/>
          <p:nvPr/>
        </p:nvSpPr>
        <p:spPr>
          <a:xfrm>
            <a:off x="1028700" y="5715022"/>
            <a:ext cx="489071" cy="489071"/>
          </a:xfrm>
          <a:custGeom>
            <a:avLst/>
            <a:gdLst/>
            <a:ahLst/>
            <a:cxnLst/>
            <a:rect l="l" t="t" r="r" b="b"/>
            <a:pathLst>
              <a:path w="489071" h="489071">
                <a:moveTo>
                  <a:pt x="0" y="0"/>
                </a:moveTo>
                <a:lnTo>
                  <a:pt x="489071" y="0"/>
                </a:lnTo>
                <a:lnTo>
                  <a:pt x="489071" y="489071"/>
                </a:lnTo>
                <a:lnTo>
                  <a:pt x="0" y="48907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3" name="Freeform 13"/>
          <p:cNvSpPr/>
          <p:nvPr/>
        </p:nvSpPr>
        <p:spPr>
          <a:xfrm>
            <a:off x="1052512" y="7045966"/>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4" name="Freeform 14"/>
          <p:cNvSpPr/>
          <p:nvPr/>
        </p:nvSpPr>
        <p:spPr>
          <a:xfrm>
            <a:off x="1052512" y="8509134"/>
            <a:ext cx="489071" cy="489071"/>
          </a:xfrm>
          <a:custGeom>
            <a:avLst/>
            <a:gdLst/>
            <a:ahLst/>
            <a:cxnLst/>
            <a:rect l="l" t="t" r="r" b="b"/>
            <a:pathLst>
              <a:path w="489071" h="489071">
                <a:moveTo>
                  <a:pt x="0" y="0"/>
                </a:moveTo>
                <a:lnTo>
                  <a:pt x="489072" y="0"/>
                </a:lnTo>
                <a:lnTo>
                  <a:pt x="489072" y="489072"/>
                </a:lnTo>
                <a:lnTo>
                  <a:pt x="0" y="489072"/>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84141" y="2469815"/>
            <a:ext cx="49740" cy="2131307"/>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8687136">
            <a:off x="12091676" y="5580767"/>
            <a:ext cx="197552" cy="238799"/>
          </a:xfrm>
          <a:custGeom>
            <a:avLst/>
            <a:gdLst/>
            <a:ahLst/>
            <a:cxnLst/>
            <a:rect l="l" t="t" r="r" b="b"/>
            <a:pathLst>
              <a:path w="197552" h="238799">
                <a:moveTo>
                  <a:pt x="0" y="0"/>
                </a:moveTo>
                <a:lnTo>
                  <a:pt x="197552" y="0"/>
                </a:lnTo>
                <a:lnTo>
                  <a:pt x="197552" y="238799"/>
                </a:lnTo>
                <a:lnTo>
                  <a:pt x="0" y="23879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1852648" y="2469815"/>
            <a:ext cx="6204329" cy="5691387"/>
          </a:xfrm>
          <a:custGeom>
            <a:avLst/>
            <a:gdLst/>
            <a:ahLst/>
            <a:cxnLst/>
            <a:rect l="l" t="t" r="r" b="b"/>
            <a:pathLst>
              <a:path w="6204329" h="5691387">
                <a:moveTo>
                  <a:pt x="0" y="0"/>
                </a:moveTo>
                <a:lnTo>
                  <a:pt x="6204329" y="0"/>
                </a:lnTo>
                <a:lnTo>
                  <a:pt x="6204329" y="5691388"/>
                </a:lnTo>
                <a:lnTo>
                  <a:pt x="0" y="569138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TextBox 7"/>
          <p:cNvSpPr txBox="1"/>
          <p:nvPr/>
        </p:nvSpPr>
        <p:spPr>
          <a:xfrm>
            <a:off x="9022336" y="2728511"/>
            <a:ext cx="6037131" cy="1293950"/>
          </a:xfrm>
          <a:prstGeom prst="rect">
            <a:avLst/>
          </a:prstGeom>
        </p:spPr>
        <p:txBody>
          <a:bodyPr lIns="0" tIns="0" rIns="0" bIns="0" rtlCol="0" anchor="t">
            <a:spAutoFit/>
          </a:bodyPr>
          <a:lstStyle/>
          <a:p>
            <a:pPr algn="l">
              <a:lnSpc>
                <a:spcPts val="9637"/>
              </a:lnSpc>
            </a:pPr>
            <a:r>
              <a:rPr lang="en-US" sz="9834" b="1" spc="-629">
                <a:gradFill>
                  <a:gsLst>
                    <a:gs pos="0">
                      <a:srgbClr val="293E9C">
                        <a:alpha val="100000"/>
                      </a:srgbClr>
                    </a:gs>
                    <a:gs pos="100000">
                      <a:srgbClr val="3A58E4">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Conclusion</a:t>
            </a:r>
          </a:p>
        </p:txBody>
      </p:sp>
      <p:sp>
        <p:nvSpPr>
          <p:cNvPr id="8" name="TextBox 8"/>
          <p:cNvSpPr txBox="1"/>
          <p:nvPr/>
        </p:nvSpPr>
        <p:spPr>
          <a:xfrm>
            <a:off x="8833881" y="4505872"/>
            <a:ext cx="8425419" cy="4585501"/>
          </a:xfrm>
          <a:prstGeom prst="rect">
            <a:avLst/>
          </a:prstGeom>
        </p:spPr>
        <p:txBody>
          <a:bodyPr lIns="0" tIns="0" rIns="0" bIns="0" rtlCol="0" anchor="t">
            <a:spAutoFit/>
          </a:bodyPr>
          <a:lstStyle/>
          <a:p>
            <a:pPr marL="694866" lvl="1" indent="-347433" algn="l">
              <a:lnSpc>
                <a:spcPts val="4505"/>
              </a:lnSpc>
              <a:buFont typeface="Arial"/>
              <a:buChar char="•"/>
            </a:pPr>
            <a:r>
              <a:rPr lang="en-US" sz="3218" b="1" spc="-9">
                <a:solidFill>
                  <a:srgbClr val="3A58E4"/>
                </a:solidFill>
                <a:latin typeface="Poppins Bold"/>
                <a:ea typeface="Poppins Bold"/>
                <a:cs typeface="Poppins Bold"/>
                <a:sym typeface="Poppins Bold"/>
              </a:rPr>
              <a:t>EDA revealed that smoking, BMI, and age are the major factors affecting healthcare insurance costs.</a:t>
            </a:r>
          </a:p>
          <a:p>
            <a:pPr algn="l">
              <a:lnSpc>
                <a:spcPts val="4505"/>
              </a:lnSpc>
            </a:pPr>
            <a:endParaRPr lang="en-US" sz="3218" b="1" spc="-9">
              <a:solidFill>
                <a:srgbClr val="3A58E4"/>
              </a:solidFill>
              <a:latin typeface="Poppins Bold"/>
              <a:ea typeface="Poppins Bold"/>
              <a:cs typeface="Poppins Bold"/>
              <a:sym typeface="Poppins Bold"/>
            </a:endParaRPr>
          </a:p>
          <a:p>
            <a:pPr marL="694866" lvl="1" indent="-347433" algn="l">
              <a:lnSpc>
                <a:spcPts val="4505"/>
              </a:lnSpc>
              <a:buFont typeface="Arial"/>
              <a:buChar char="•"/>
            </a:pPr>
            <a:r>
              <a:rPr lang="en-US" sz="3218" b="1" spc="-9">
                <a:solidFill>
                  <a:srgbClr val="3A58E4"/>
                </a:solidFill>
                <a:latin typeface="Poppins Bold"/>
                <a:ea typeface="Poppins Bold"/>
                <a:cs typeface="Poppins Bold"/>
                <a:sym typeface="Poppins Bold"/>
              </a:rPr>
              <a:t>Smokers showed significantly higher medicalexpenses compared to non-smokers.</a:t>
            </a:r>
          </a:p>
          <a:p>
            <a:pPr algn="just">
              <a:lnSpc>
                <a:spcPts val="4505"/>
              </a:lnSpc>
            </a:pPr>
            <a:endParaRPr lang="en-US" sz="3218" b="1" spc="-9">
              <a:solidFill>
                <a:srgbClr val="3A58E4"/>
              </a:solidFill>
              <a:latin typeface="Poppins Bold"/>
              <a:ea typeface="Poppins Bold"/>
              <a:cs typeface="Poppins Bold"/>
              <a:sym typeface="Poppins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412</Words>
  <Application>Microsoft Office PowerPoint</Application>
  <PresentationFormat>Custom</PresentationFormat>
  <Paragraphs>49</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Antonio</vt:lpstr>
      <vt:lpstr>Canva Sans Bold</vt:lpstr>
      <vt:lpstr>Calibri</vt:lpstr>
      <vt:lpstr>Bricolage Grotesque</vt:lpstr>
      <vt:lpstr>Poppins Bold</vt:lpstr>
      <vt:lpstr>Bricolage Grotesque Bold</vt:lpstr>
      <vt:lpstr>Canva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Data Analytics Presentation</dc:title>
  <dc:creator>Sai</dc:creator>
  <cp:lastModifiedBy>Sai</cp:lastModifiedBy>
  <cp:revision>2</cp:revision>
  <dcterms:created xsi:type="dcterms:W3CDTF">2006-08-16T00:00:00Z</dcterms:created>
  <dcterms:modified xsi:type="dcterms:W3CDTF">2026-05-27T13:16:30Z</dcterms:modified>
  <dc:identifier>DAHK27_t8AU</dc:identifier>
</cp:coreProperties>
</file>